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Roboto Mono" charset="1" panose="00000000000000000000"/>
      <p:regular r:id="rId22"/>
    </p:embeddedFont>
    <p:embeddedFont>
      <p:font typeface="Muli" charset="1" panose="00000500000000000000"/>
      <p:regular r:id="rId23"/>
    </p:embeddedFont>
    <p:embeddedFont>
      <p:font typeface="Roboto Mono Bold" charset="1" panose="00000000000000000000"/>
      <p:regular r:id="rId24"/>
    </p:embeddedFont>
    <p:embeddedFont>
      <p:font typeface="Arimo" charset="1" panose="020B0604020202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908124" y="377957"/>
            <a:ext cx="3808376" cy="33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98"/>
              </a:lnSpc>
            </a:pPr>
            <a:r>
              <a:rPr lang="en-US" sz="1998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2026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1500" y="387893"/>
            <a:ext cx="5041506" cy="31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</a:pPr>
            <a:r>
              <a:rPr lang="en-US" sz="1829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GABARIT ° RÉSEAU D'ATELIERS PARTAGÉS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9445" y="9501650"/>
            <a:ext cx="8439305" cy="31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</a:pPr>
            <a:r>
              <a:rPr lang="en-US" sz="1829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SOUTENANCE M2 EEMI · NEXT.JS · REACT NATIVE · DOCKER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9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64085" y="396596"/>
            <a:ext cx="5573915" cy="316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SOUTENANCE M2 EEMI · 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1500" y="1748173"/>
            <a:ext cx="8001109" cy="74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59"/>
              </a:lnSpc>
            </a:pPr>
            <a:r>
              <a:rPr lang="en-US" sz="6231" spc="-43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LE PRODUIT↘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67880" y="8202125"/>
            <a:ext cx="8448620" cy="74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59"/>
              </a:lnSpc>
            </a:pPr>
            <a:r>
              <a:rPr lang="en-US" sz="6231" spc="-430" u="sng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SANS ACHETER LE PARC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-324633" y="9388184"/>
            <a:ext cx="1861263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-324633" y="6417042"/>
            <a:ext cx="523953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4914900" y="3284809"/>
            <a:ext cx="4133850" cy="6103375"/>
          </a:xfrm>
          <a:custGeom>
            <a:avLst/>
            <a:gdLst/>
            <a:ahLst/>
            <a:cxnLst/>
            <a:rect r="r" b="b" t="t" l="l"/>
            <a:pathLst>
              <a:path h="6103375" w="4133850">
                <a:moveTo>
                  <a:pt x="0" y="0"/>
                </a:moveTo>
                <a:lnTo>
                  <a:pt x="4133850" y="0"/>
                </a:lnTo>
                <a:lnTo>
                  <a:pt x="4133850" y="6103375"/>
                </a:lnTo>
                <a:lnTo>
                  <a:pt x="0" y="61033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" t="0" r="-106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67880" y="3284809"/>
            <a:ext cx="8448620" cy="1858691"/>
          </a:xfrm>
          <a:custGeom>
            <a:avLst/>
            <a:gdLst/>
            <a:ahLst/>
            <a:cxnLst/>
            <a:rect r="r" b="b" t="t" l="l"/>
            <a:pathLst>
              <a:path h="1858691" w="8448620">
                <a:moveTo>
                  <a:pt x="0" y="0"/>
                </a:moveTo>
                <a:lnTo>
                  <a:pt x="8448620" y="0"/>
                </a:lnTo>
                <a:lnTo>
                  <a:pt x="8448620" y="1858691"/>
                </a:lnTo>
                <a:lnTo>
                  <a:pt x="0" y="18586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420" r="0" b="-142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267880" y="5314950"/>
            <a:ext cx="8448620" cy="2563325"/>
          </a:xfrm>
          <a:custGeom>
            <a:avLst/>
            <a:gdLst/>
            <a:ahLst/>
            <a:cxnLst/>
            <a:rect r="r" b="b" t="t" l="l"/>
            <a:pathLst>
              <a:path h="2563325" w="8448620">
                <a:moveTo>
                  <a:pt x="0" y="0"/>
                </a:moveTo>
                <a:lnTo>
                  <a:pt x="8448620" y="0"/>
                </a:lnTo>
                <a:lnTo>
                  <a:pt x="8448620" y="2563325"/>
                </a:lnTo>
                <a:lnTo>
                  <a:pt x="0" y="2563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75" r="0" b="-675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71500" y="3875466"/>
            <a:ext cx="4143375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— Habilitation</a:t>
            </a:r>
          </a:p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— Crédits</a:t>
            </a:r>
          </a:p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— Réservation de créneau</a:t>
            </a:r>
          </a:p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— Arrivée par QR code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08124" y="368432"/>
            <a:ext cx="3808376" cy="316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</a:p>
        </p:txBody>
      </p:sp>
      <p:sp>
        <p:nvSpPr>
          <p:cNvPr name="AutoShape 12" id="12"/>
          <p:cNvSpPr/>
          <p:nvPr/>
        </p:nvSpPr>
        <p:spPr>
          <a:xfrm>
            <a:off x="0" y="893203"/>
            <a:ext cx="182880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0" y="3284809"/>
            <a:ext cx="182880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4914900" y="3284809"/>
            <a:ext cx="0" cy="6103375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571500" y="387893"/>
            <a:ext cx="4707794" cy="289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3"/>
              </a:lnSpc>
            </a:pPr>
            <a:r>
              <a:rPr lang="en-US" sz="1709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GABARIT — RÉSEAU D'ATELIERS PARTAGÉS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9445" y="9501650"/>
            <a:ext cx="8439305" cy="289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3"/>
              </a:lnSpc>
              <a:spcBef>
                <a:spcPct val="0"/>
              </a:spcBef>
            </a:pPr>
            <a:r>
              <a:rPr lang="en-US" sz="1709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FIL-ROUGE-NEXT.VERCEL.APP · NEXT.JS · REACT NATIVE · DOCKER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1500" y="6898777"/>
            <a:ext cx="4143375" cy="16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39"/>
              </a:lnSpc>
            </a:pPr>
            <a:r>
              <a:rPr lang="en-US" sz="4296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ATELIERS</a:t>
            </a:r>
          </a:p>
          <a:p>
            <a:pPr algn="l" marL="0" indent="0" lvl="0">
              <a:lnSpc>
                <a:spcPts val="4339"/>
              </a:lnSpc>
            </a:pPr>
            <a:r>
              <a:rPr lang="en-US" sz="4296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PARIS · LYON · NANTES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BE9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64085" y="415646"/>
            <a:ext cx="5573915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95"/>
              </a:lnSpc>
              <a:spcBef>
                <a:spcPct val="0"/>
              </a:spcBef>
            </a:pPr>
            <a:r>
              <a:rPr lang="en-US" sz="1925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PRODUIT · PARCOURS MEMBRE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1500" y="1700548"/>
            <a:ext cx="8001109" cy="1083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21"/>
              </a:lnSpc>
              <a:spcBef>
                <a:spcPct val="0"/>
              </a:spcBef>
            </a:pPr>
            <a:r>
              <a:rPr lang="en-US" sz="4792" spc="-330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PARCOURS</a:t>
            </a:r>
          </a:p>
          <a:p>
            <a:pPr algn="l" marL="0" indent="0" lvl="0">
              <a:lnSpc>
                <a:spcPts val="4121"/>
              </a:lnSpc>
              <a:spcBef>
                <a:spcPct val="0"/>
              </a:spcBef>
            </a:pPr>
            <a:r>
              <a:rPr lang="en-US" sz="4792" spc="-330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MEMBRE↘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-324633" y="9388184"/>
            <a:ext cx="1861263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3908124" y="387482"/>
            <a:ext cx="3808376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95"/>
              </a:lnSpc>
            </a:pPr>
            <a:r>
              <a:rPr lang="en-US" sz="19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2026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893203"/>
            <a:ext cx="182880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0" y="3284809"/>
            <a:ext cx="182880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571500" y="387893"/>
            <a:ext cx="4707794" cy="31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  <a:spcBef>
                <a:spcPct val="0"/>
              </a:spcBef>
            </a:pPr>
            <a:r>
              <a:rPr lang="en-US" sz="1829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GABARIT — PRODUIT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9445" y="9501650"/>
            <a:ext cx="8439305" cy="31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  <a:spcBef>
                <a:spcPct val="0"/>
              </a:spcBef>
            </a:pPr>
            <a:r>
              <a:rPr lang="en-US" sz="1829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WEB : ÉTAPES 1 À 3 · MOBILE : RÉSERVATIONS + ÉTAPE 4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71500" y="3810000"/>
            <a:ext cx="3714750" cy="4000500"/>
            <a:chOff x="0" y="0"/>
            <a:chExt cx="4953000" cy="533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53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F3F1EA"/>
            </a:solidFill>
            <a:ln w="19050" cap="sq">
              <a:solidFill>
                <a:srgbClr val="15130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953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143500" y="3810000"/>
            <a:ext cx="3714750" cy="4000500"/>
            <a:chOff x="0" y="0"/>
            <a:chExt cx="4953000" cy="533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53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F3F1EA"/>
            </a:solidFill>
            <a:ln w="19050" cap="sq">
              <a:solidFill>
                <a:srgbClr val="15130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953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715500" y="3810000"/>
            <a:ext cx="3714750" cy="4000500"/>
            <a:chOff x="0" y="0"/>
            <a:chExt cx="4953000" cy="533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53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F3F1EA"/>
            </a:solidFill>
            <a:ln w="19050" cap="sq">
              <a:solidFill>
                <a:srgbClr val="15130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953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287500" y="3810000"/>
            <a:ext cx="3714750" cy="4000500"/>
            <a:chOff x="0" y="0"/>
            <a:chExt cx="4953000" cy="533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53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D4581B"/>
            </a:solidFill>
            <a:ln w="19050" cap="sq">
              <a:solidFill>
                <a:srgbClr val="15130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953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305300" y="5667375"/>
            <a:ext cx="819150" cy="285750"/>
            <a:chOff x="0" y="0"/>
            <a:chExt cx="1092200" cy="381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2200" cy="381000"/>
            </a:xfrm>
            <a:custGeom>
              <a:avLst/>
              <a:gdLst/>
              <a:ahLst/>
              <a:cxnLst/>
              <a:rect r="r" b="b" t="t" l="l"/>
              <a:pathLst>
                <a:path h="381000" w="1092200">
                  <a:moveTo>
                    <a:pt x="0" y="139700"/>
                  </a:moveTo>
                  <a:lnTo>
                    <a:pt x="787400" y="139700"/>
                  </a:lnTo>
                  <a:lnTo>
                    <a:pt x="787400" y="0"/>
                  </a:lnTo>
                  <a:lnTo>
                    <a:pt x="1092200" y="190500"/>
                  </a:lnTo>
                  <a:lnTo>
                    <a:pt x="787400" y="381000"/>
                  </a:lnTo>
                  <a:lnTo>
                    <a:pt x="787400" y="241300"/>
                  </a:lnTo>
                  <a:lnTo>
                    <a:pt x="0" y="241300"/>
                  </a:lnTo>
                  <a:close/>
                </a:path>
              </a:pathLst>
            </a:custGeom>
            <a:solidFill>
              <a:srgbClr val="15130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922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877300" y="5667375"/>
            <a:ext cx="819150" cy="285750"/>
            <a:chOff x="0" y="0"/>
            <a:chExt cx="1092200" cy="381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2200" cy="381000"/>
            </a:xfrm>
            <a:custGeom>
              <a:avLst/>
              <a:gdLst/>
              <a:ahLst/>
              <a:cxnLst/>
              <a:rect r="r" b="b" t="t" l="l"/>
              <a:pathLst>
                <a:path h="381000" w="1092200">
                  <a:moveTo>
                    <a:pt x="0" y="139700"/>
                  </a:moveTo>
                  <a:lnTo>
                    <a:pt x="787400" y="139700"/>
                  </a:lnTo>
                  <a:lnTo>
                    <a:pt x="787400" y="0"/>
                  </a:lnTo>
                  <a:lnTo>
                    <a:pt x="1092200" y="190500"/>
                  </a:lnTo>
                  <a:lnTo>
                    <a:pt x="787400" y="381000"/>
                  </a:lnTo>
                  <a:lnTo>
                    <a:pt x="787400" y="241300"/>
                  </a:lnTo>
                  <a:lnTo>
                    <a:pt x="0" y="241300"/>
                  </a:lnTo>
                  <a:close/>
                </a:path>
              </a:pathLst>
            </a:custGeom>
            <a:solidFill>
              <a:srgbClr val="15130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0922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449300" y="5667375"/>
            <a:ext cx="819150" cy="285750"/>
            <a:chOff x="0" y="0"/>
            <a:chExt cx="1092200" cy="381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2200" cy="381000"/>
            </a:xfrm>
            <a:custGeom>
              <a:avLst/>
              <a:gdLst/>
              <a:ahLst/>
              <a:cxnLst/>
              <a:rect r="r" b="b" t="t" l="l"/>
              <a:pathLst>
                <a:path h="381000" w="1092200">
                  <a:moveTo>
                    <a:pt x="0" y="139700"/>
                  </a:moveTo>
                  <a:lnTo>
                    <a:pt x="787400" y="139700"/>
                  </a:lnTo>
                  <a:lnTo>
                    <a:pt x="787400" y="0"/>
                  </a:lnTo>
                  <a:lnTo>
                    <a:pt x="1092200" y="190500"/>
                  </a:lnTo>
                  <a:lnTo>
                    <a:pt x="787400" y="381000"/>
                  </a:lnTo>
                  <a:lnTo>
                    <a:pt x="787400" y="241300"/>
                  </a:lnTo>
                  <a:lnTo>
                    <a:pt x="0" y="241300"/>
                  </a:lnTo>
                  <a:close/>
                </a:path>
              </a:pathLst>
            </a:custGeom>
            <a:solidFill>
              <a:srgbClr val="15130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922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857250" y="4162425"/>
            <a:ext cx="3143250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b="true" sz="1925" strike="noStrike" u="sng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01 · S'INSCRIRE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57250" y="4800600"/>
            <a:ext cx="3143250" cy="1122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Compte</a:t>
            </a:r>
          </a:p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Onboarding : profil + atelier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429250" y="4162425"/>
            <a:ext cx="3143250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b="true" sz="1925" strike="noStrike" u="sng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02 · ÊTRE HABILITÉ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429250" y="4800600"/>
            <a:ext cx="3143250" cy="1122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Demande par famille de machines</a:t>
            </a:r>
          </a:p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Validée par un admin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001250" y="4162425"/>
            <a:ext cx="3143250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b="true" sz="1925" strike="noStrike" u="sng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03 · RÉSERVER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001250" y="4800600"/>
            <a:ext cx="3143250" cy="741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Machine · jour · créneau</a:t>
            </a:r>
          </a:p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Crédits débités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573250" y="4162425"/>
            <a:ext cx="3143250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b="true" sz="1925" strike="noStrike" u="sng">
                <a:solidFill>
                  <a:srgbClr val="EBE9D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04 · ARRIVER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573250" y="4800600"/>
            <a:ext cx="3143250" cy="741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EBE9DF"/>
                </a:solidFill>
                <a:latin typeface="Muli"/>
                <a:ea typeface="Muli"/>
                <a:cs typeface="Muli"/>
                <a:sym typeface="Muli"/>
              </a:rPr>
              <a:t>Scan du QR sur l'app</a:t>
            </a:r>
          </a:p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EBE9DF"/>
                </a:solidFill>
                <a:latin typeface="Muli"/>
                <a:ea typeface="Muli"/>
                <a:cs typeface="Muli"/>
                <a:sym typeface="Muli"/>
              </a:rPr>
              <a:t>Arrivée enregistrée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9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64085" y="415646"/>
            <a:ext cx="5573915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95"/>
              </a:lnSpc>
            </a:pPr>
            <a:r>
              <a:rPr lang="en-US" sz="19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ARCHITECTURE GLOBALE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1500" y="1700548"/>
            <a:ext cx="8001109" cy="1083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21"/>
              </a:lnSpc>
            </a:pPr>
            <a:r>
              <a:rPr lang="en-US" sz="4792" spc="-33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ARCHITECTURE</a:t>
            </a:r>
          </a:p>
          <a:p>
            <a:pPr algn="l" marL="0" indent="0" lvl="0">
              <a:lnSpc>
                <a:spcPts val="4121"/>
              </a:lnSpc>
            </a:pPr>
            <a:r>
              <a:rPr lang="en-US" sz="4792" spc="-33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GLOBALE↘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39250" y="1226578"/>
            <a:ext cx="8477250" cy="159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21"/>
              </a:lnSpc>
            </a:pPr>
            <a:r>
              <a:rPr lang="en-US" sz="4792" spc="-33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DEUX CLIENTS,</a:t>
            </a:r>
          </a:p>
          <a:p>
            <a:pPr algn="l" marL="0" indent="0" lvl="0">
              <a:lnSpc>
                <a:spcPts val="4121"/>
              </a:lnSpc>
            </a:pPr>
            <a:r>
              <a:rPr lang="en-US" sz="4792" spc="-33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UN BACKEND</a:t>
            </a:r>
          </a:p>
          <a:p>
            <a:pPr algn="l" marL="0" indent="0" lvl="0">
              <a:lnSpc>
                <a:spcPts val="4121"/>
              </a:lnSpc>
            </a:pPr>
            <a:r>
              <a:rPr lang="en-US" sz="4792" spc="-33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PARTAGÉ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-324633" y="9388184"/>
            <a:ext cx="1861263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-324633" y="6417042"/>
            <a:ext cx="523953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5279294" y="3532459"/>
            <a:ext cx="6146307" cy="5608075"/>
          </a:xfrm>
          <a:custGeom>
            <a:avLst/>
            <a:gdLst/>
            <a:ahLst/>
            <a:cxnLst/>
            <a:rect r="r" b="b" t="t" l="l"/>
            <a:pathLst>
              <a:path h="5608075" w="6146307">
                <a:moveTo>
                  <a:pt x="0" y="0"/>
                </a:moveTo>
                <a:lnTo>
                  <a:pt x="6146307" y="0"/>
                </a:lnTo>
                <a:lnTo>
                  <a:pt x="6146307" y="5608075"/>
                </a:lnTo>
                <a:lnTo>
                  <a:pt x="0" y="5608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8" r="0" b="-688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570193" y="3532459"/>
            <a:ext cx="6146307" cy="5608075"/>
          </a:xfrm>
          <a:custGeom>
            <a:avLst/>
            <a:gdLst/>
            <a:ahLst/>
            <a:cxnLst/>
            <a:rect r="r" b="b" t="t" l="l"/>
            <a:pathLst>
              <a:path h="5608075" w="6146307">
                <a:moveTo>
                  <a:pt x="0" y="0"/>
                </a:moveTo>
                <a:lnTo>
                  <a:pt x="6146307" y="0"/>
                </a:lnTo>
                <a:lnTo>
                  <a:pt x="6146307" y="5608075"/>
                </a:lnTo>
                <a:lnTo>
                  <a:pt x="0" y="560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88" r="0" b="-688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71500" y="3875466"/>
            <a:ext cx="4143375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— Supabase</a:t>
            </a:r>
          </a:p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— Postgres + Auth</a:t>
            </a:r>
          </a:p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— RLS</a:t>
            </a:r>
          </a:p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— Fonctions SQL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908124" y="387482"/>
            <a:ext cx="3808376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95"/>
              </a:lnSpc>
            </a:pPr>
            <a:r>
              <a:rPr lang="en-US" sz="19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2026</a:t>
            </a:r>
          </a:p>
        </p:txBody>
      </p:sp>
      <p:sp>
        <p:nvSpPr>
          <p:cNvPr name="AutoShape 11" id="11"/>
          <p:cNvSpPr/>
          <p:nvPr/>
        </p:nvSpPr>
        <p:spPr>
          <a:xfrm>
            <a:off x="0" y="893203"/>
            <a:ext cx="182880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0" y="3284809"/>
            <a:ext cx="182880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4914900" y="3284809"/>
            <a:ext cx="0" cy="6103375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571500" y="387893"/>
            <a:ext cx="4707794" cy="31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</a:pPr>
            <a:r>
              <a:rPr lang="en-US" sz="1829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GABARIT — M2 EEMI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9445" y="9501650"/>
            <a:ext cx="8439305" cy="31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  <a:spcBef>
                <a:spcPct val="0"/>
              </a:spcBef>
            </a:pPr>
            <a:r>
              <a:rPr lang="en-US" sz="1829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CLIENT MOBILE — EXPO · BACKEND — SUPABASE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1500" y="6898777"/>
            <a:ext cx="4143375" cy="111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39"/>
              </a:lnSpc>
            </a:pPr>
            <a:r>
              <a:rPr lang="en-US" sz="4296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CLIENT WEB</a:t>
            </a:r>
          </a:p>
          <a:p>
            <a:pPr algn="l" marL="0" indent="0" lvl="0">
              <a:lnSpc>
                <a:spcPts val="4339"/>
              </a:lnSpc>
            </a:pPr>
            <a:r>
              <a:rPr lang="en-US" sz="4296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NEXT.JS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9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64085" y="415646"/>
            <a:ext cx="5573915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95"/>
              </a:lnSpc>
            </a:pPr>
            <a:r>
              <a:rPr lang="en-US" sz="19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NEXT.JS · ARCHITECTURE · APP ROUTER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1500" y="1700548"/>
            <a:ext cx="8001109" cy="1083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21"/>
              </a:lnSpc>
            </a:pPr>
            <a:r>
              <a:rPr lang="en-US" sz="4792" spc="-33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NEXT.JS</a:t>
            </a:r>
          </a:p>
          <a:p>
            <a:pPr algn="l" marL="0" indent="0" lvl="0">
              <a:lnSpc>
                <a:spcPts val="4121"/>
              </a:lnSpc>
            </a:pPr>
            <a:r>
              <a:rPr lang="en-US" sz="4792" spc="-33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SITE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-324633" y="9388184"/>
            <a:ext cx="1861263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587500" y="3751534"/>
            <a:ext cx="1689152" cy="2200121"/>
          </a:xfrm>
          <a:custGeom>
            <a:avLst/>
            <a:gdLst/>
            <a:ahLst/>
            <a:cxnLst/>
            <a:rect r="r" b="b" t="t" l="l"/>
            <a:pathLst>
              <a:path h="2200121" w="1689152">
                <a:moveTo>
                  <a:pt x="0" y="0"/>
                </a:moveTo>
                <a:lnTo>
                  <a:pt x="1689152" y="0"/>
                </a:lnTo>
                <a:lnTo>
                  <a:pt x="1689152" y="2200121"/>
                </a:lnTo>
                <a:lnTo>
                  <a:pt x="0" y="2200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6" t="0" r="-146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55250" y="3751534"/>
            <a:ext cx="1689152" cy="2200121"/>
          </a:xfrm>
          <a:custGeom>
            <a:avLst/>
            <a:gdLst/>
            <a:ahLst/>
            <a:cxnLst/>
            <a:rect r="r" b="b" t="t" l="l"/>
            <a:pathLst>
              <a:path h="2200121" w="1689152">
                <a:moveTo>
                  <a:pt x="0" y="0"/>
                </a:moveTo>
                <a:lnTo>
                  <a:pt x="1689152" y="0"/>
                </a:lnTo>
                <a:lnTo>
                  <a:pt x="1689152" y="2200121"/>
                </a:lnTo>
                <a:lnTo>
                  <a:pt x="0" y="22001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6" t="0" r="-146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87500" y="6831796"/>
            <a:ext cx="1689152" cy="2200121"/>
          </a:xfrm>
          <a:custGeom>
            <a:avLst/>
            <a:gdLst/>
            <a:ahLst/>
            <a:cxnLst/>
            <a:rect r="r" b="b" t="t" l="l"/>
            <a:pathLst>
              <a:path h="2200121" w="1689152">
                <a:moveTo>
                  <a:pt x="0" y="0"/>
                </a:moveTo>
                <a:lnTo>
                  <a:pt x="1689152" y="0"/>
                </a:lnTo>
                <a:lnTo>
                  <a:pt x="1689152" y="2200122"/>
                </a:lnTo>
                <a:lnTo>
                  <a:pt x="0" y="22001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6" t="0" r="-146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55250" y="6831796"/>
            <a:ext cx="1689152" cy="2200121"/>
          </a:xfrm>
          <a:custGeom>
            <a:avLst/>
            <a:gdLst/>
            <a:ahLst/>
            <a:cxnLst/>
            <a:rect r="r" b="b" t="t" l="l"/>
            <a:pathLst>
              <a:path h="2200121" w="1689152">
                <a:moveTo>
                  <a:pt x="0" y="0"/>
                </a:moveTo>
                <a:lnTo>
                  <a:pt x="1689152" y="0"/>
                </a:lnTo>
                <a:lnTo>
                  <a:pt x="1689152" y="2200122"/>
                </a:lnTo>
                <a:lnTo>
                  <a:pt x="0" y="22001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6" t="0" r="-146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286250" y="4397712"/>
            <a:ext cx="4333875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(marketing) · (auth) · (onboarding)</a:t>
            </a:r>
          </a:p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(app) · (admin)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54000" y="4446509"/>
            <a:ext cx="4333875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Un layout par espace</a:t>
            </a:r>
          </a:p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Layout imbriqué : paramètres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286250" y="4012919"/>
            <a:ext cx="4333875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b="true" sz="1925" u="sng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ROUTE GROUPS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54000" y="4061716"/>
            <a:ext cx="4333286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b="true" sz="1925" u="sng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LAYOUTS DÉDIÉS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86250" y="7372041"/>
            <a:ext cx="4333875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proxy.ts</a:t>
            </a:r>
          </a:p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requireViewer · requireAdmin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54000" y="7420838"/>
            <a:ext cx="4333875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Vitrine · Membre · Admin</a:t>
            </a:r>
          </a:p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Bilingue FR / EN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86250" y="6987248"/>
            <a:ext cx="4333286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b="true" sz="1925" u="sng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GARDES D'ACCÈS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54000" y="7036045"/>
            <a:ext cx="4333875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b="true" sz="1925" u="sng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SÉPARATION DES ESPACES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908124" y="387482"/>
            <a:ext cx="3808376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95"/>
              </a:lnSpc>
            </a:pPr>
            <a:r>
              <a:rPr lang="en-US" sz="19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2026</a:t>
            </a:r>
          </a:p>
        </p:txBody>
      </p:sp>
      <p:sp>
        <p:nvSpPr>
          <p:cNvPr name="AutoShape 18" id="18"/>
          <p:cNvSpPr/>
          <p:nvPr/>
        </p:nvSpPr>
        <p:spPr>
          <a:xfrm>
            <a:off x="0" y="893203"/>
            <a:ext cx="182880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0" y="3284809"/>
            <a:ext cx="182880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-428625" y="6418380"/>
            <a:ext cx="182880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V="true">
            <a:off x="9160567" y="3284809"/>
            <a:ext cx="0" cy="6103375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571500" y="387893"/>
            <a:ext cx="4707794" cy="31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</a:pPr>
            <a:r>
              <a:rPr lang="en-US" sz="1829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GABARIT — M2 EEMI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09445" y="9501650"/>
            <a:ext cx="8439305" cy="31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  <a:spcBef>
                <a:spcPct val="0"/>
              </a:spcBef>
            </a:pPr>
            <a:r>
              <a:rPr lang="en-US" sz="1829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NEXT.JS 16 · APP ROUTER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9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64085" y="415646"/>
            <a:ext cx="5573915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95"/>
              </a:lnSpc>
              <a:spcBef>
                <a:spcPct val="0"/>
              </a:spcBef>
            </a:pPr>
            <a:r>
              <a:rPr lang="en-US" sz="1925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NEXT.JS · LE SITE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1500" y="1700548"/>
            <a:ext cx="8001109" cy="1083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21"/>
              </a:lnSpc>
              <a:spcBef>
                <a:spcPct val="0"/>
              </a:spcBef>
            </a:pPr>
            <a:r>
              <a:rPr lang="en-US" sz="4792" spc="-330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LE SITE</a:t>
            </a:r>
          </a:p>
          <a:p>
            <a:pPr algn="l" marL="0" indent="0" lvl="0">
              <a:lnSpc>
                <a:spcPts val="4121"/>
              </a:lnSpc>
              <a:spcBef>
                <a:spcPct val="0"/>
              </a:spcBef>
            </a:pPr>
            <a:r>
              <a:rPr lang="en-US" sz="4792" spc="-330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EN IMAGES↘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39250" y="1226578"/>
            <a:ext cx="8477250" cy="159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21"/>
              </a:lnSpc>
              <a:spcBef>
                <a:spcPct val="0"/>
              </a:spcBef>
            </a:pPr>
            <a:r>
              <a:rPr lang="en-US" sz="4792" spc="-330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CATALOGUE,</a:t>
            </a:r>
          </a:p>
          <a:p>
            <a:pPr algn="l" marL="0" indent="0" lvl="0">
              <a:lnSpc>
                <a:spcPts val="4121"/>
              </a:lnSpc>
              <a:spcBef>
                <a:spcPct val="0"/>
              </a:spcBef>
            </a:pPr>
            <a:r>
              <a:rPr lang="en-US" sz="4792" spc="-330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FICHE MACHINE,</a:t>
            </a:r>
          </a:p>
          <a:p>
            <a:pPr algn="l" marL="0" indent="0" lvl="0">
              <a:lnSpc>
                <a:spcPts val="4121"/>
              </a:lnSpc>
              <a:spcBef>
                <a:spcPct val="0"/>
              </a:spcBef>
            </a:pPr>
            <a:r>
              <a:rPr lang="en-US" sz="4792" spc="-330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RÉSERVATION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-324633" y="9388184"/>
            <a:ext cx="1861263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-324633" y="6417042"/>
            <a:ext cx="523953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 descr="Catalogue des machines avec filtres"/>
          <p:cNvSpPr/>
          <p:nvPr/>
        </p:nvSpPr>
        <p:spPr>
          <a:xfrm flipH="false" flipV="false" rot="0">
            <a:off x="5279294" y="3532459"/>
            <a:ext cx="6146307" cy="5608075"/>
          </a:xfrm>
          <a:custGeom>
            <a:avLst/>
            <a:gdLst/>
            <a:ahLst/>
            <a:cxnLst/>
            <a:rect r="r" b="b" t="t" l="l"/>
            <a:pathLst>
              <a:path h="5608075" w="6146307">
                <a:moveTo>
                  <a:pt x="0" y="0"/>
                </a:moveTo>
                <a:lnTo>
                  <a:pt x="6146307" y="0"/>
                </a:lnTo>
                <a:lnTo>
                  <a:pt x="6146307" y="5608075"/>
                </a:lnTo>
                <a:lnTo>
                  <a:pt x="0" y="5608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319" t="-1925" r="-6319" b="-1925"/>
            </a:stretch>
          </a:blipFill>
        </p:spPr>
      </p:sp>
      <p:sp>
        <p:nvSpPr>
          <p:cNvPr name="Freeform 8" id="8" descr="Fiche machine avec tarif et bouton Réserver"/>
          <p:cNvSpPr/>
          <p:nvPr/>
        </p:nvSpPr>
        <p:spPr>
          <a:xfrm flipH="false" flipV="false" rot="0">
            <a:off x="11570193" y="3532459"/>
            <a:ext cx="6146307" cy="5608075"/>
          </a:xfrm>
          <a:custGeom>
            <a:avLst/>
            <a:gdLst/>
            <a:ahLst/>
            <a:cxnLst/>
            <a:rect r="r" b="b" t="t" l="l"/>
            <a:pathLst>
              <a:path h="5608075" w="6146307">
                <a:moveTo>
                  <a:pt x="0" y="0"/>
                </a:moveTo>
                <a:lnTo>
                  <a:pt x="6146307" y="0"/>
                </a:lnTo>
                <a:lnTo>
                  <a:pt x="6146307" y="5608075"/>
                </a:lnTo>
                <a:lnTo>
                  <a:pt x="0" y="560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93" t="-1925" r="-1993" b="-1925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71500" y="3875466"/>
            <a:ext cx="4143375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— Filtres dans l'URL</a:t>
            </a:r>
          </a:p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— Tarif en crédits</a:t>
            </a:r>
          </a:p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— Habilitation requise</a:t>
            </a:r>
          </a:p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— FR / EN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908124" y="387482"/>
            <a:ext cx="3808376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95"/>
              </a:lnSpc>
            </a:pPr>
            <a:r>
              <a:rPr lang="en-US" sz="19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2026</a:t>
            </a:r>
          </a:p>
        </p:txBody>
      </p:sp>
      <p:sp>
        <p:nvSpPr>
          <p:cNvPr name="AutoShape 11" id="11"/>
          <p:cNvSpPr/>
          <p:nvPr/>
        </p:nvSpPr>
        <p:spPr>
          <a:xfrm>
            <a:off x="0" y="893203"/>
            <a:ext cx="182880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0" y="3284809"/>
            <a:ext cx="182880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4914900" y="3284809"/>
            <a:ext cx="0" cy="6103375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571500" y="387893"/>
            <a:ext cx="4707794" cy="31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  <a:spcBef>
                <a:spcPct val="0"/>
              </a:spcBef>
            </a:pPr>
            <a:r>
              <a:rPr lang="en-US" sz="1829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GABARIT — NEXT.JS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9445" y="9501650"/>
            <a:ext cx="8439305" cy="31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  <a:spcBef>
                <a:spcPct val="0"/>
              </a:spcBef>
            </a:pPr>
            <a:r>
              <a:rPr lang="en-US" sz="1829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FIL-ROUGE-NEXT.VERCEL.APP · CAPTURES DU SITE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1500" y="6898777"/>
            <a:ext cx="4143375" cy="111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39"/>
              </a:lnSpc>
              <a:spcBef>
                <a:spcPct val="0"/>
              </a:spcBef>
            </a:pPr>
            <a:r>
              <a:rPr lang="en-US" sz="4296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VITRINE</a:t>
            </a:r>
          </a:p>
          <a:p>
            <a:pPr algn="l" marL="0" indent="0" lvl="0">
              <a:lnSpc>
                <a:spcPts val="4339"/>
              </a:lnSpc>
              <a:spcBef>
                <a:spcPct val="0"/>
              </a:spcBef>
            </a:pPr>
            <a:r>
              <a:rPr lang="en-US" sz="4296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PUBLIQUE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9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64085" y="415646"/>
            <a:ext cx="5573915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95"/>
              </a:lnSpc>
            </a:pPr>
            <a:r>
              <a:rPr lang="en-US" sz="19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NEXT.JS — CHOIX TECHNIQUES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1500" y="1700548"/>
            <a:ext cx="8001109" cy="1083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21"/>
              </a:lnSpc>
            </a:pPr>
            <a:r>
              <a:rPr lang="en-US" sz="4792" spc="-33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CHOIX</a:t>
            </a:r>
          </a:p>
          <a:p>
            <a:pPr algn="l" marL="0" indent="0" lvl="0">
              <a:lnSpc>
                <a:spcPts val="4121"/>
              </a:lnSpc>
            </a:pPr>
            <a:r>
              <a:rPr lang="en-US" sz="4792" spc="-33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TECHNIQUES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-324633" y="9388184"/>
            <a:ext cx="1861263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587500" y="3751534"/>
            <a:ext cx="1689152" cy="2200121"/>
          </a:xfrm>
          <a:custGeom>
            <a:avLst/>
            <a:gdLst/>
            <a:ahLst/>
            <a:cxnLst/>
            <a:rect r="r" b="b" t="t" l="l"/>
            <a:pathLst>
              <a:path h="2200121" w="1689152">
                <a:moveTo>
                  <a:pt x="0" y="0"/>
                </a:moveTo>
                <a:lnTo>
                  <a:pt x="1689152" y="0"/>
                </a:lnTo>
                <a:lnTo>
                  <a:pt x="1689152" y="2200121"/>
                </a:lnTo>
                <a:lnTo>
                  <a:pt x="0" y="2200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6" t="0" r="-146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55250" y="3751534"/>
            <a:ext cx="1689152" cy="2200121"/>
          </a:xfrm>
          <a:custGeom>
            <a:avLst/>
            <a:gdLst/>
            <a:ahLst/>
            <a:cxnLst/>
            <a:rect r="r" b="b" t="t" l="l"/>
            <a:pathLst>
              <a:path h="2200121" w="1689152">
                <a:moveTo>
                  <a:pt x="0" y="0"/>
                </a:moveTo>
                <a:lnTo>
                  <a:pt x="1689152" y="0"/>
                </a:lnTo>
                <a:lnTo>
                  <a:pt x="1689152" y="2200121"/>
                </a:lnTo>
                <a:lnTo>
                  <a:pt x="0" y="22001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6" t="0" r="-146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87500" y="6831796"/>
            <a:ext cx="1689152" cy="2200121"/>
          </a:xfrm>
          <a:custGeom>
            <a:avLst/>
            <a:gdLst/>
            <a:ahLst/>
            <a:cxnLst/>
            <a:rect r="r" b="b" t="t" l="l"/>
            <a:pathLst>
              <a:path h="2200121" w="1689152">
                <a:moveTo>
                  <a:pt x="0" y="0"/>
                </a:moveTo>
                <a:lnTo>
                  <a:pt x="1689152" y="0"/>
                </a:lnTo>
                <a:lnTo>
                  <a:pt x="1689152" y="2200122"/>
                </a:lnTo>
                <a:lnTo>
                  <a:pt x="0" y="22001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6" t="0" r="-146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55250" y="6831796"/>
            <a:ext cx="1689152" cy="2200121"/>
          </a:xfrm>
          <a:custGeom>
            <a:avLst/>
            <a:gdLst/>
            <a:ahLst/>
            <a:cxnLst/>
            <a:rect r="r" b="b" t="t" l="l"/>
            <a:pathLst>
              <a:path h="2200121" w="1689152">
                <a:moveTo>
                  <a:pt x="0" y="0"/>
                </a:moveTo>
                <a:lnTo>
                  <a:pt x="1689152" y="0"/>
                </a:lnTo>
                <a:lnTo>
                  <a:pt x="1689152" y="2200122"/>
                </a:lnTo>
                <a:lnTo>
                  <a:pt x="0" y="22001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6" t="0" r="-146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286250" y="4397712"/>
            <a:ext cx="4333875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Server Components par défaut</a:t>
            </a:r>
          </a:p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Client seulement si interactif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54000" y="4446509"/>
            <a:ext cx="4333875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proxy.ts → layouts → RLS</a:t>
            </a:r>
          </a:p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Server Actions + zod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286250" y="4012919"/>
            <a:ext cx="4333875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b="true" sz="1925" u="sng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SERVER-FIRST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54000" y="4061716"/>
            <a:ext cx="4333286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b="true" sz="1925" u="sng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SÉCURITÉ — 3 COUCHES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86250" y="7372041"/>
            <a:ext cx="4333875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« use cache » + tags</a:t>
            </a:r>
          </a:p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updateTag() depuis l'admin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54000" y="7420838"/>
            <a:ext cx="4333875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Réservation en SQL</a:t>
            </a:r>
          </a:p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Contrainte GiST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86250" y="6987248"/>
            <a:ext cx="4333286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b="true" sz="1925" u="sng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CACHE MAÎTRISÉ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54000" y="7036045"/>
            <a:ext cx="4333875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b="true" sz="1925" u="sng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COMPROMIS RETENUS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908124" y="387482"/>
            <a:ext cx="3808376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95"/>
              </a:lnSpc>
            </a:pPr>
            <a:r>
              <a:rPr lang="en-US" sz="19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2026</a:t>
            </a:r>
          </a:p>
        </p:txBody>
      </p:sp>
      <p:sp>
        <p:nvSpPr>
          <p:cNvPr name="AutoShape 18" id="18"/>
          <p:cNvSpPr/>
          <p:nvPr/>
        </p:nvSpPr>
        <p:spPr>
          <a:xfrm>
            <a:off x="0" y="893203"/>
            <a:ext cx="182880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0" y="3284809"/>
            <a:ext cx="182880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-428625" y="6418380"/>
            <a:ext cx="182880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V="true">
            <a:off x="9160567" y="3284809"/>
            <a:ext cx="0" cy="6103375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571500" y="387893"/>
            <a:ext cx="4707794" cy="31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</a:pPr>
            <a:r>
              <a:rPr lang="en-US" sz="1829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GABARIT — M2 EEMI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09445" y="9501650"/>
            <a:ext cx="8439305" cy="31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  <a:spcBef>
                <a:spcPct val="0"/>
              </a:spcBef>
            </a:pPr>
            <a:r>
              <a:rPr lang="en-US" sz="1829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DÉPLOYÉ SUR VERCEL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BE9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64085" y="415646"/>
            <a:ext cx="5573915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95"/>
              </a:lnSpc>
              <a:spcBef>
                <a:spcPct val="0"/>
              </a:spcBef>
            </a:pPr>
            <a:r>
              <a:rPr lang="en-US" sz="1925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NEXT.JS · PARCOURS TECHNIQUE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1500" y="1700548"/>
            <a:ext cx="8001109" cy="1083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21"/>
              </a:lnSpc>
              <a:spcBef>
                <a:spcPct val="0"/>
              </a:spcBef>
            </a:pPr>
            <a:r>
              <a:rPr lang="en-US" sz="4792" spc="-330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RÉSERVER,</a:t>
            </a:r>
          </a:p>
          <a:p>
            <a:pPr algn="l" marL="0" indent="0" lvl="0">
              <a:lnSpc>
                <a:spcPts val="4121"/>
              </a:lnSpc>
              <a:spcBef>
                <a:spcPct val="0"/>
              </a:spcBef>
            </a:pPr>
            <a:r>
              <a:rPr lang="en-US" sz="4792" spc="-330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DU CLIC À LA BASE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-324633" y="9388184"/>
            <a:ext cx="1861263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3908124" y="387482"/>
            <a:ext cx="3808376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95"/>
              </a:lnSpc>
            </a:pPr>
            <a:r>
              <a:rPr lang="en-US" sz="19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2026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893203"/>
            <a:ext cx="182880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0" y="3284809"/>
            <a:ext cx="182880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571500" y="387893"/>
            <a:ext cx="4707794" cy="31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  <a:spcBef>
                <a:spcPct val="0"/>
              </a:spcBef>
            </a:pPr>
            <a:r>
              <a:rPr lang="en-US" sz="1829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GABARIT — NEXT.JS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9445" y="9501650"/>
            <a:ext cx="8439305" cy="31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  <a:spcBef>
                <a:spcPct val="0"/>
              </a:spcBef>
            </a:pPr>
            <a:r>
              <a:rPr lang="en-US" sz="1829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UNE SEULE TRANSACTION · ERREURS TRADUITES FR / EN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71500" y="3810000"/>
            <a:ext cx="3714750" cy="4000500"/>
            <a:chOff x="0" y="0"/>
            <a:chExt cx="4953000" cy="533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53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F3F1EA"/>
            </a:solidFill>
            <a:ln w="19050" cap="sq">
              <a:solidFill>
                <a:srgbClr val="15130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953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143500" y="3810000"/>
            <a:ext cx="3714750" cy="4000500"/>
            <a:chOff x="0" y="0"/>
            <a:chExt cx="4953000" cy="533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53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F3F1EA"/>
            </a:solidFill>
            <a:ln w="19050" cap="sq">
              <a:solidFill>
                <a:srgbClr val="15130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953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715500" y="3810000"/>
            <a:ext cx="3714750" cy="4000500"/>
            <a:chOff x="0" y="0"/>
            <a:chExt cx="4953000" cy="533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53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F3F1EA"/>
            </a:solidFill>
            <a:ln w="19050" cap="sq">
              <a:solidFill>
                <a:srgbClr val="15130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953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287500" y="3810000"/>
            <a:ext cx="3714750" cy="4000500"/>
            <a:chOff x="0" y="0"/>
            <a:chExt cx="4953000" cy="533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53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D4581B"/>
            </a:solidFill>
            <a:ln w="19050" cap="sq">
              <a:solidFill>
                <a:srgbClr val="15130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953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305300" y="5667375"/>
            <a:ext cx="819150" cy="285750"/>
            <a:chOff x="0" y="0"/>
            <a:chExt cx="1092200" cy="381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2200" cy="381000"/>
            </a:xfrm>
            <a:custGeom>
              <a:avLst/>
              <a:gdLst/>
              <a:ahLst/>
              <a:cxnLst/>
              <a:rect r="r" b="b" t="t" l="l"/>
              <a:pathLst>
                <a:path h="381000" w="1092200">
                  <a:moveTo>
                    <a:pt x="0" y="139700"/>
                  </a:moveTo>
                  <a:lnTo>
                    <a:pt x="787400" y="139700"/>
                  </a:lnTo>
                  <a:lnTo>
                    <a:pt x="787400" y="0"/>
                  </a:lnTo>
                  <a:lnTo>
                    <a:pt x="1092200" y="190500"/>
                  </a:lnTo>
                  <a:lnTo>
                    <a:pt x="787400" y="381000"/>
                  </a:lnTo>
                  <a:lnTo>
                    <a:pt x="787400" y="241300"/>
                  </a:lnTo>
                  <a:lnTo>
                    <a:pt x="0" y="241300"/>
                  </a:lnTo>
                  <a:close/>
                </a:path>
              </a:pathLst>
            </a:custGeom>
            <a:solidFill>
              <a:srgbClr val="15130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922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877300" y="5667375"/>
            <a:ext cx="819150" cy="285750"/>
            <a:chOff x="0" y="0"/>
            <a:chExt cx="1092200" cy="381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2200" cy="381000"/>
            </a:xfrm>
            <a:custGeom>
              <a:avLst/>
              <a:gdLst/>
              <a:ahLst/>
              <a:cxnLst/>
              <a:rect r="r" b="b" t="t" l="l"/>
              <a:pathLst>
                <a:path h="381000" w="1092200">
                  <a:moveTo>
                    <a:pt x="0" y="139700"/>
                  </a:moveTo>
                  <a:lnTo>
                    <a:pt x="787400" y="139700"/>
                  </a:lnTo>
                  <a:lnTo>
                    <a:pt x="787400" y="0"/>
                  </a:lnTo>
                  <a:lnTo>
                    <a:pt x="1092200" y="190500"/>
                  </a:lnTo>
                  <a:lnTo>
                    <a:pt x="787400" y="381000"/>
                  </a:lnTo>
                  <a:lnTo>
                    <a:pt x="787400" y="241300"/>
                  </a:lnTo>
                  <a:lnTo>
                    <a:pt x="0" y="241300"/>
                  </a:lnTo>
                  <a:close/>
                </a:path>
              </a:pathLst>
            </a:custGeom>
            <a:solidFill>
              <a:srgbClr val="15130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0922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449300" y="5667375"/>
            <a:ext cx="819150" cy="285750"/>
            <a:chOff x="0" y="0"/>
            <a:chExt cx="1092200" cy="381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2200" cy="381000"/>
            </a:xfrm>
            <a:custGeom>
              <a:avLst/>
              <a:gdLst/>
              <a:ahLst/>
              <a:cxnLst/>
              <a:rect r="r" b="b" t="t" l="l"/>
              <a:pathLst>
                <a:path h="381000" w="1092200">
                  <a:moveTo>
                    <a:pt x="0" y="139700"/>
                  </a:moveTo>
                  <a:lnTo>
                    <a:pt x="787400" y="139700"/>
                  </a:lnTo>
                  <a:lnTo>
                    <a:pt x="787400" y="0"/>
                  </a:lnTo>
                  <a:lnTo>
                    <a:pt x="1092200" y="190500"/>
                  </a:lnTo>
                  <a:lnTo>
                    <a:pt x="787400" y="381000"/>
                  </a:lnTo>
                  <a:lnTo>
                    <a:pt x="787400" y="241300"/>
                  </a:lnTo>
                  <a:lnTo>
                    <a:pt x="0" y="241300"/>
                  </a:lnTo>
                  <a:close/>
                </a:path>
              </a:pathLst>
            </a:custGeom>
            <a:solidFill>
              <a:srgbClr val="15130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922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857250" y="4162425"/>
            <a:ext cx="3143250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b="true" sz="1925" strike="noStrike" u="sng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01 · URL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57250" y="4800600"/>
            <a:ext cx="3143250" cy="1503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/reserver/[slug]</a:t>
            </a:r>
          </a:p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Jour → créneau → récap</a:t>
            </a:r>
          </a:p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État dans l'URL</a:t>
            </a:r>
          </a:p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(searchParams)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429250" y="4162425"/>
            <a:ext cx="3143250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b="true" sz="1925" strike="noStrike" u="sng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02 · SERVER ACTION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429250" y="4800600"/>
            <a:ext cx="3143250" cy="1122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createBookingAction</a:t>
            </a:r>
          </a:p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Session vérifiée</a:t>
            </a:r>
          </a:p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Validation zod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001250" y="4162425"/>
            <a:ext cx="3143250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b="true" sz="1925" strike="noStrike" u="sng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03 · POSTGRES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001250" y="4800600"/>
            <a:ext cx="3143250" cy="1122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rpc book_machine()</a:t>
            </a:r>
          </a:p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Habilitation · solde</a:t>
            </a:r>
          </a:p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Chevauchement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573250" y="4162425"/>
            <a:ext cx="3143250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b="true" sz="1925" strike="noStrike" u="sng">
                <a:solidFill>
                  <a:srgbClr val="EBE9D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04 · RÉSULTAT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573250" y="4800600"/>
            <a:ext cx="3143250" cy="1122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EBE9DF"/>
                </a:solidFill>
                <a:latin typeface="Muli"/>
                <a:ea typeface="Muli"/>
                <a:cs typeface="Muli"/>
                <a:sym typeface="Muli"/>
              </a:rPr>
              <a:t>Crédits débités</a:t>
            </a:r>
          </a:p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EBE9DF"/>
                </a:solidFill>
                <a:latin typeface="Muli"/>
                <a:ea typeface="Muli"/>
                <a:cs typeface="Muli"/>
                <a:sym typeface="Muli"/>
              </a:rPr>
              <a:t>Revalidation</a:t>
            </a:r>
          </a:p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EBE9DF"/>
                </a:solidFill>
                <a:latin typeface="Muli"/>
                <a:ea typeface="Muli"/>
                <a:cs typeface="Muli"/>
                <a:sym typeface="Muli"/>
              </a:rPr>
              <a:t>Redirection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9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87100" y="4539977"/>
            <a:ext cx="6667500" cy="181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— Site : usage au bureau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— App : usage sur place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— Même backend Supabase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— Expo Go · téléphone réel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087100" y="8928101"/>
            <a:ext cx="6658706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sz="1925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EXPO · QR CODE · GÉOLOCALISATION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345803" y="387482"/>
            <a:ext cx="3400003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95"/>
              </a:lnSpc>
            </a:pPr>
            <a:r>
              <a:rPr lang="en-US" sz="19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2026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53438" y="0"/>
            <a:ext cx="8995312" cy="10287000"/>
          </a:xfrm>
          <a:custGeom>
            <a:avLst/>
            <a:gdLst/>
            <a:ahLst/>
            <a:cxnLst/>
            <a:rect r="r" b="b" t="t" l="l"/>
            <a:pathLst>
              <a:path h="10287000" w="8995312">
                <a:moveTo>
                  <a:pt x="0" y="0"/>
                </a:moveTo>
                <a:lnTo>
                  <a:pt x="8995312" y="0"/>
                </a:lnTo>
                <a:lnTo>
                  <a:pt x="899531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27" r="0" b="-327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1087100" y="8766918"/>
            <a:ext cx="922852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059478" y="893203"/>
            <a:ext cx="922852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9534958" y="1767223"/>
            <a:ext cx="8001109" cy="2307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21"/>
              </a:lnSpc>
            </a:pPr>
            <a:r>
              <a:rPr lang="en-US" sz="6886" spc="-47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MOBILE</a:t>
            </a:r>
          </a:p>
          <a:p>
            <a:pPr algn="l" marL="0" indent="0" lvl="0">
              <a:lnSpc>
                <a:spcPts val="5921"/>
              </a:lnSpc>
            </a:pPr>
            <a:r>
              <a:rPr lang="en-US" sz="6886" spc="-47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POURQUOI</a:t>
            </a:r>
          </a:p>
          <a:p>
            <a:pPr algn="l" marL="0" indent="0" lvl="0">
              <a:lnSpc>
                <a:spcPts val="5921"/>
              </a:lnSpc>
            </a:pPr>
            <a:r>
              <a:rPr lang="en-US" sz="6886" spc="-47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UNE APP</a:t>
            </a:r>
          </a:p>
        </p:txBody>
      </p:sp>
      <p:sp>
        <p:nvSpPr>
          <p:cNvPr name="AutoShape 9" id="9"/>
          <p:cNvSpPr/>
          <p:nvPr/>
        </p:nvSpPr>
        <p:spPr>
          <a:xfrm>
            <a:off x="9534958" y="9388184"/>
            <a:ext cx="875304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9534947" y="9502484"/>
            <a:ext cx="8210859" cy="31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  <a:spcBef>
                <a:spcPct val="0"/>
              </a:spcBef>
            </a:pPr>
            <a:r>
              <a:rPr lang="en-US" sz="1829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09 / 16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34947" y="387893"/>
            <a:ext cx="5730587" cy="31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</a:pPr>
            <a:r>
              <a:rPr lang="en-US" sz="1829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GABARIT — RÉSEAU D'ATELIERS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EBE9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64085" y="415646"/>
            <a:ext cx="5573915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95"/>
              </a:lnSpc>
              <a:spcBef>
                <a:spcPct val="0"/>
              </a:spcBef>
            </a:pPr>
            <a:r>
              <a:rPr lang="en-US" sz="1925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MOBILE · LES ÉCRANS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1500" y="1700548"/>
            <a:ext cx="8001109" cy="1083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21"/>
              </a:lnSpc>
              <a:spcBef>
                <a:spcPct val="0"/>
              </a:spcBef>
            </a:pPr>
            <a:r>
              <a:rPr lang="en-US" sz="4792" spc="-330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L'APP EN</a:t>
            </a:r>
          </a:p>
          <a:p>
            <a:pPr algn="l" marL="0" indent="0" lvl="0">
              <a:lnSpc>
                <a:spcPts val="4121"/>
              </a:lnSpc>
              <a:spcBef>
                <a:spcPct val="0"/>
              </a:spcBef>
            </a:pPr>
            <a:r>
              <a:rPr lang="en-US" sz="4792" spc="-330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4 ÉCRANS↘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-324633" y="9388184"/>
            <a:ext cx="1861263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3908124" y="387482"/>
            <a:ext cx="3808376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95"/>
              </a:lnSpc>
            </a:pPr>
            <a:r>
              <a:rPr lang="en-US" sz="19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2026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893203"/>
            <a:ext cx="182880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0" y="3284809"/>
            <a:ext cx="182880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571500" y="387893"/>
            <a:ext cx="4707794" cy="31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  <a:spcBef>
                <a:spcPct val="0"/>
              </a:spcBef>
            </a:pPr>
            <a:r>
              <a:rPr lang="en-US" sz="1829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GABARIT — MOBILE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9445" y="9501650"/>
            <a:ext cx="8439305" cy="31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  <a:spcBef>
                <a:spcPct val="0"/>
              </a:spcBef>
            </a:pPr>
            <a:r>
              <a:rPr lang="en-US" sz="1829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EXPO ROUTER · ONGLETS (TABS)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71500" y="3810000"/>
            <a:ext cx="3714750" cy="4000500"/>
            <a:chOff x="0" y="0"/>
            <a:chExt cx="4953000" cy="533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53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F3F1EA"/>
            </a:solidFill>
            <a:ln w="19050" cap="sq">
              <a:solidFill>
                <a:srgbClr val="15130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953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143500" y="3810000"/>
            <a:ext cx="3714750" cy="4000500"/>
            <a:chOff x="0" y="0"/>
            <a:chExt cx="4953000" cy="533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53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F3F1EA"/>
            </a:solidFill>
            <a:ln w="19050" cap="sq">
              <a:solidFill>
                <a:srgbClr val="15130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953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715500" y="3810000"/>
            <a:ext cx="3714750" cy="4000500"/>
            <a:chOff x="0" y="0"/>
            <a:chExt cx="4953000" cy="533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53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F3F1EA"/>
            </a:solidFill>
            <a:ln w="19050" cap="sq">
              <a:solidFill>
                <a:srgbClr val="15130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953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287500" y="3810000"/>
            <a:ext cx="3714750" cy="4000500"/>
            <a:chOff x="0" y="0"/>
            <a:chExt cx="4953000" cy="533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53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F3F1EA"/>
            </a:solidFill>
            <a:ln w="19050" cap="sq">
              <a:solidFill>
                <a:srgbClr val="15130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953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857250" y="4162425"/>
            <a:ext cx="3143250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b="true" sz="1925" strike="noStrike" u="sng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ACCUEIL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57250" y="4800600"/>
            <a:ext cx="3143250" cy="741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Solde · prochaine séance</a:t>
            </a:r>
          </a:p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Carte des ateliers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429250" y="4162425"/>
            <a:ext cx="3143250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b="true" sz="1925" strike="noStrike" u="sng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MACHINES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429250" y="4800600"/>
            <a:ext cx="3143250" cy="741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Filtre par famille</a:t>
            </a:r>
          </a:p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Réserver un créneau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01250" y="4162425"/>
            <a:ext cx="3143250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b="true" sz="1925" strike="noStrike" u="sng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ARRIVÉE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01250" y="4800600"/>
            <a:ext cx="3143250" cy="741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Scanner le QR</a:t>
            </a:r>
          </a:p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Dernières arrivées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573250" y="4162425"/>
            <a:ext cx="3143250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b="true" sz="1925" strike="noStrike" u="sng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RÉSERVATIONS · PROFIL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573250" y="4800600"/>
            <a:ext cx="3143250" cy="741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À venir · annuler</a:t>
            </a:r>
          </a:p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Habilitations · solde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9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87100" y="8928101"/>
            <a:ext cx="6658706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</a:pPr>
            <a:r>
              <a:rPr lang="en-US" sz="19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QR CODE &amp; GÉOLOCALISATION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48130" y="387482"/>
            <a:ext cx="8468370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95"/>
              </a:lnSpc>
            </a:pPr>
            <a:r>
              <a:rPr lang="en-US" sz="19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2026</a:t>
            </a:r>
          </a:p>
        </p:txBody>
      </p:sp>
      <p:sp>
        <p:nvSpPr>
          <p:cNvPr name="AutoShape 4" id="4"/>
          <p:cNvSpPr/>
          <p:nvPr/>
        </p:nvSpPr>
        <p:spPr>
          <a:xfrm>
            <a:off x="11087100" y="8766918"/>
            <a:ext cx="922852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0" y="893203"/>
            <a:ext cx="182880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9263998" y="7777418"/>
            <a:ext cx="8001109" cy="972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47"/>
              </a:lnSpc>
            </a:pPr>
            <a:r>
              <a:rPr lang="en-US" sz="8194" spc="-56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NATIF↘</a:t>
            </a:r>
          </a:p>
        </p:txBody>
      </p:sp>
      <p:sp>
        <p:nvSpPr>
          <p:cNvPr name="AutoShape 7" id="7"/>
          <p:cNvSpPr/>
          <p:nvPr/>
        </p:nvSpPr>
        <p:spPr>
          <a:xfrm>
            <a:off x="9263998" y="9388184"/>
            <a:ext cx="902400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609445" y="9501650"/>
            <a:ext cx="8439305" cy="31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</a:pPr>
            <a:r>
              <a:rPr lang="en-US" sz="1829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M2 EEMI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1500" y="387893"/>
            <a:ext cx="8477250" cy="31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</a:pPr>
            <a:r>
              <a:rPr lang="en-US" sz="1829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GABARIT — MOBILE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71500" y="3350237"/>
            <a:ext cx="2698750" cy="3240705"/>
          </a:xfrm>
          <a:custGeom>
            <a:avLst/>
            <a:gdLst/>
            <a:ahLst/>
            <a:cxnLst/>
            <a:rect r="r" b="b" t="t" l="l"/>
            <a:pathLst>
              <a:path h="3240705" w="2698750">
                <a:moveTo>
                  <a:pt x="0" y="0"/>
                </a:moveTo>
                <a:lnTo>
                  <a:pt x="2698750" y="0"/>
                </a:lnTo>
                <a:lnTo>
                  <a:pt x="2698750" y="3240705"/>
                </a:lnTo>
                <a:lnTo>
                  <a:pt x="0" y="324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" r="0" b="-166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482975" y="3350237"/>
            <a:ext cx="5565775" cy="5416682"/>
          </a:xfrm>
          <a:custGeom>
            <a:avLst/>
            <a:gdLst/>
            <a:ahLst/>
            <a:cxnLst/>
            <a:rect r="r" b="b" t="t" l="l"/>
            <a:pathLst>
              <a:path h="5416682" w="5565775">
                <a:moveTo>
                  <a:pt x="0" y="0"/>
                </a:moveTo>
                <a:lnTo>
                  <a:pt x="5565775" y="0"/>
                </a:lnTo>
                <a:lnTo>
                  <a:pt x="5565775" y="5416681"/>
                </a:lnTo>
                <a:lnTo>
                  <a:pt x="0" y="54166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41" r="0" b="-541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263998" y="2271268"/>
            <a:ext cx="2674002" cy="4284361"/>
          </a:xfrm>
          <a:custGeom>
            <a:avLst/>
            <a:gdLst/>
            <a:ahLst/>
            <a:cxnLst/>
            <a:rect r="r" b="b" t="t" l="l"/>
            <a:pathLst>
              <a:path h="4284361" w="2674002">
                <a:moveTo>
                  <a:pt x="0" y="0"/>
                </a:moveTo>
                <a:lnTo>
                  <a:pt x="2674002" y="0"/>
                </a:lnTo>
                <a:lnTo>
                  <a:pt x="2674002" y="4284361"/>
                </a:lnTo>
                <a:lnTo>
                  <a:pt x="0" y="42843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31" r="0" b="-231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71500" y="1272995"/>
            <a:ext cx="8382000" cy="87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sz="255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Scan QR → serveur → arrivée</a:t>
            </a:r>
          </a:p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sz="255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Carte · distance · rayon 300 m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2128500" y="3696058"/>
            <a:ext cx="2698750" cy="2859570"/>
          </a:xfrm>
          <a:custGeom>
            <a:avLst/>
            <a:gdLst/>
            <a:ahLst/>
            <a:cxnLst/>
            <a:rect r="r" b="b" t="t" l="l"/>
            <a:pathLst>
              <a:path h="2859570" w="2698750">
                <a:moveTo>
                  <a:pt x="0" y="0"/>
                </a:moveTo>
                <a:lnTo>
                  <a:pt x="2698750" y="0"/>
                </a:lnTo>
                <a:lnTo>
                  <a:pt x="2698750" y="2859571"/>
                </a:lnTo>
                <a:lnTo>
                  <a:pt x="0" y="2859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29" t="0" r="-529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017750" y="5281488"/>
            <a:ext cx="2722250" cy="2416595"/>
          </a:xfrm>
          <a:custGeom>
            <a:avLst/>
            <a:gdLst/>
            <a:ahLst/>
            <a:cxnLst/>
            <a:rect r="r" b="b" t="t" l="l"/>
            <a:pathLst>
              <a:path h="2416595" w="2722250">
                <a:moveTo>
                  <a:pt x="0" y="0"/>
                </a:moveTo>
                <a:lnTo>
                  <a:pt x="2722250" y="0"/>
                </a:lnTo>
                <a:lnTo>
                  <a:pt x="2722250" y="2416595"/>
                </a:lnTo>
                <a:lnTo>
                  <a:pt x="0" y="24165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80" r="0" b="-48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017750" y="2636293"/>
            <a:ext cx="2722250" cy="2492795"/>
          </a:xfrm>
          <a:custGeom>
            <a:avLst/>
            <a:gdLst/>
            <a:ahLst/>
            <a:cxnLst/>
            <a:rect r="r" b="b" t="t" l="l"/>
            <a:pathLst>
              <a:path h="2492795" w="2722250">
                <a:moveTo>
                  <a:pt x="0" y="0"/>
                </a:moveTo>
                <a:lnTo>
                  <a:pt x="2722250" y="0"/>
                </a:lnTo>
                <a:lnTo>
                  <a:pt x="2722250" y="2492795"/>
                </a:lnTo>
                <a:lnTo>
                  <a:pt x="0" y="24927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507" r="0" b="-507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71500" y="6754004"/>
            <a:ext cx="2698750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sz="19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SCAN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82975" y="8919318"/>
            <a:ext cx="5565775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sz="1925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ARRIVÉE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48130" y="1822287"/>
            <a:ext cx="2689870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sz="19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ATELIERS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28500" y="6754004"/>
            <a:ext cx="2698750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sz="19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ITINÉRAIRE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017750" y="2159216"/>
            <a:ext cx="2698750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sz="1925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PERMISSIONS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EBE9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64085" y="415646"/>
            <a:ext cx="5573915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95"/>
              </a:lnSpc>
              <a:spcBef>
                <a:spcPct val="0"/>
              </a:spcBef>
            </a:pPr>
            <a:r>
              <a:rPr lang="en-US" sz="1925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MOBILE · PARCOURS TECHNIQUE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1500" y="1700548"/>
            <a:ext cx="8001109" cy="1083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21"/>
              </a:lnSpc>
              <a:spcBef>
                <a:spcPct val="0"/>
              </a:spcBef>
            </a:pPr>
            <a:r>
              <a:rPr lang="en-US" sz="4792" spc="-330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SCAN QR</a:t>
            </a:r>
          </a:p>
          <a:p>
            <a:pPr algn="l" marL="0" indent="0" lvl="0">
              <a:lnSpc>
                <a:spcPts val="4121"/>
              </a:lnSpc>
              <a:spcBef>
                <a:spcPct val="0"/>
              </a:spcBef>
            </a:pPr>
            <a:r>
              <a:rPr lang="en-US" sz="4792" spc="-330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PAS À PAS↘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-324633" y="9388184"/>
            <a:ext cx="1861263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3908124" y="387482"/>
            <a:ext cx="3808376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95"/>
              </a:lnSpc>
            </a:pPr>
            <a:r>
              <a:rPr lang="en-US" sz="19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2026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893203"/>
            <a:ext cx="182880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0" y="3284809"/>
            <a:ext cx="182880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571500" y="387893"/>
            <a:ext cx="4707794" cy="31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  <a:spcBef>
                <a:spcPct val="0"/>
              </a:spcBef>
            </a:pPr>
            <a:r>
              <a:rPr lang="en-US" sz="1829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GABARIT — MOBILE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9445" y="9501650"/>
            <a:ext cx="17145000" cy="31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  <a:spcBef>
                <a:spcPct val="0"/>
              </a:spcBef>
            </a:pPr>
            <a:r>
              <a:rPr lang="en-US" sz="1829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ERREURS : CODE INCONNU · AUCUNE RÉSERVATION · DÉJÀ ENREGISTRÉE · TROP LOIN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71500" y="3810000"/>
            <a:ext cx="3714750" cy="4000500"/>
            <a:chOff x="0" y="0"/>
            <a:chExt cx="4953000" cy="533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53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F3F1EA"/>
            </a:solidFill>
            <a:ln w="19050" cap="sq">
              <a:solidFill>
                <a:srgbClr val="15130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953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143500" y="3810000"/>
            <a:ext cx="3714750" cy="4000500"/>
            <a:chOff x="0" y="0"/>
            <a:chExt cx="4953000" cy="533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53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F3F1EA"/>
            </a:solidFill>
            <a:ln w="19050" cap="sq">
              <a:solidFill>
                <a:srgbClr val="15130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953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715500" y="3810000"/>
            <a:ext cx="3714750" cy="4000500"/>
            <a:chOff x="0" y="0"/>
            <a:chExt cx="4953000" cy="533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53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F3F1EA"/>
            </a:solidFill>
            <a:ln w="19050" cap="sq">
              <a:solidFill>
                <a:srgbClr val="15130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953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287500" y="3810000"/>
            <a:ext cx="3714750" cy="4000500"/>
            <a:chOff x="0" y="0"/>
            <a:chExt cx="4953000" cy="533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53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D4581B"/>
            </a:solidFill>
            <a:ln w="19050" cap="sq">
              <a:solidFill>
                <a:srgbClr val="15130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953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305300" y="5667375"/>
            <a:ext cx="819150" cy="285750"/>
            <a:chOff x="0" y="0"/>
            <a:chExt cx="1092200" cy="381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2200" cy="381000"/>
            </a:xfrm>
            <a:custGeom>
              <a:avLst/>
              <a:gdLst/>
              <a:ahLst/>
              <a:cxnLst/>
              <a:rect r="r" b="b" t="t" l="l"/>
              <a:pathLst>
                <a:path h="381000" w="1092200">
                  <a:moveTo>
                    <a:pt x="0" y="139700"/>
                  </a:moveTo>
                  <a:lnTo>
                    <a:pt x="787400" y="139700"/>
                  </a:lnTo>
                  <a:lnTo>
                    <a:pt x="787400" y="0"/>
                  </a:lnTo>
                  <a:lnTo>
                    <a:pt x="1092200" y="190500"/>
                  </a:lnTo>
                  <a:lnTo>
                    <a:pt x="787400" y="381000"/>
                  </a:lnTo>
                  <a:lnTo>
                    <a:pt x="787400" y="241300"/>
                  </a:lnTo>
                  <a:lnTo>
                    <a:pt x="0" y="241300"/>
                  </a:lnTo>
                  <a:close/>
                </a:path>
              </a:pathLst>
            </a:custGeom>
            <a:solidFill>
              <a:srgbClr val="15130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922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877300" y="5667375"/>
            <a:ext cx="819150" cy="285750"/>
            <a:chOff x="0" y="0"/>
            <a:chExt cx="1092200" cy="381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2200" cy="381000"/>
            </a:xfrm>
            <a:custGeom>
              <a:avLst/>
              <a:gdLst/>
              <a:ahLst/>
              <a:cxnLst/>
              <a:rect r="r" b="b" t="t" l="l"/>
              <a:pathLst>
                <a:path h="381000" w="1092200">
                  <a:moveTo>
                    <a:pt x="0" y="139700"/>
                  </a:moveTo>
                  <a:lnTo>
                    <a:pt x="787400" y="139700"/>
                  </a:lnTo>
                  <a:lnTo>
                    <a:pt x="787400" y="0"/>
                  </a:lnTo>
                  <a:lnTo>
                    <a:pt x="1092200" y="190500"/>
                  </a:lnTo>
                  <a:lnTo>
                    <a:pt x="787400" y="381000"/>
                  </a:lnTo>
                  <a:lnTo>
                    <a:pt x="787400" y="241300"/>
                  </a:lnTo>
                  <a:lnTo>
                    <a:pt x="0" y="241300"/>
                  </a:lnTo>
                  <a:close/>
                </a:path>
              </a:pathLst>
            </a:custGeom>
            <a:solidFill>
              <a:srgbClr val="15130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0922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449300" y="5667375"/>
            <a:ext cx="819150" cy="285750"/>
            <a:chOff x="0" y="0"/>
            <a:chExt cx="1092200" cy="381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2200" cy="381000"/>
            </a:xfrm>
            <a:custGeom>
              <a:avLst/>
              <a:gdLst/>
              <a:ahLst/>
              <a:cxnLst/>
              <a:rect r="r" b="b" t="t" l="l"/>
              <a:pathLst>
                <a:path h="381000" w="1092200">
                  <a:moveTo>
                    <a:pt x="0" y="139700"/>
                  </a:moveTo>
                  <a:lnTo>
                    <a:pt x="787400" y="139700"/>
                  </a:lnTo>
                  <a:lnTo>
                    <a:pt x="787400" y="0"/>
                  </a:lnTo>
                  <a:lnTo>
                    <a:pt x="1092200" y="190500"/>
                  </a:lnTo>
                  <a:lnTo>
                    <a:pt x="787400" y="381000"/>
                  </a:lnTo>
                  <a:lnTo>
                    <a:pt x="787400" y="241300"/>
                  </a:lnTo>
                  <a:lnTo>
                    <a:pt x="0" y="241300"/>
                  </a:lnTo>
                  <a:close/>
                </a:path>
              </a:pathLst>
            </a:custGeom>
            <a:solidFill>
              <a:srgbClr val="15130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922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857250" y="4162425"/>
            <a:ext cx="3143250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b="true" sz="1925" strike="noStrike" u="sng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01 · LECTURE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57250" y="4800600"/>
            <a:ext cx="3143250" cy="1122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expo-camera</a:t>
            </a:r>
          </a:p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QR → slug machine</a:t>
            </a:r>
          </a:p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Double scan bloqué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429250" y="4162425"/>
            <a:ext cx="3143250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b="true" sz="1925" strike="noStrike" u="sng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02 · POSITION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429250" y="4800600"/>
            <a:ext cx="3143250" cy="1122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expo-location</a:t>
            </a:r>
          </a:p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Si autorisée</a:t>
            </a:r>
          </a:p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Sinon : scan sans distance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001250" y="4162425"/>
            <a:ext cx="3143250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b="true" sz="1925" strike="noStrike" u="sng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03 · POSTGRES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001250" y="4800600"/>
            <a:ext cx="3143250" cy="1122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check_in_with_code()</a:t>
            </a:r>
          </a:p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Réservation en cours</a:t>
            </a:r>
          </a:p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Distance ≤ 300 m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573250" y="4162425"/>
            <a:ext cx="3143250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b="true" sz="1925" strike="noStrike" u="sng">
                <a:solidFill>
                  <a:srgbClr val="EBE9D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04 · FEEDBACK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573250" y="4800600"/>
            <a:ext cx="3143250" cy="741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EBE9DF"/>
                </a:solidFill>
                <a:latin typeface="Muli"/>
                <a:ea typeface="Muli"/>
                <a:cs typeface="Muli"/>
                <a:sym typeface="Muli"/>
              </a:rPr>
              <a:t>Arrivée enregistrée</a:t>
            </a:r>
          </a:p>
          <a:p>
            <a:pPr algn="l" marL="0" indent="0" lvl="0">
              <a:lnSpc>
                <a:spcPts val="3037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EBE9DF"/>
                </a:solidFill>
                <a:latin typeface="Muli"/>
                <a:ea typeface="Muli"/>
                <a:cs typeface="Muli"/>
                <a:sym typeface="Muli"/>
              </a:rPr>
              <a:t>ou erreur claire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EBE9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893203"/>
            <a:ext cx="182880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-324633" y="9388184"/>
            <a:ext cx="1861263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6364085" y="406121"/>
            <a:ext cx="5573915" cy="331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39"/>
              </a:lnSpc>
            </a:pPr>
            <a:r>
              <a:rPr lang="en-US" sz="1956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IMAGE NEXT.JS MULTI-ÉTAPES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908124" y="377957"/>
            <a:ext cx="3808376" cy="331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39"/>
              </a:lnSpc>
              <a:spcBef>
                <a:spcPct val="0"/>
              </a:spcBef>
            </a:pPr>
            <a:r>
              <a:rPr lang="en-US" sz="1956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13 / 16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1500" y="387893"/>
            <a:ext cx="4707794" cy="31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</a:pPr>
            <a:r>
              <a:rPr lang="en-US" sz="1829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GABARIT — DOCKER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9445" y="9501650"/>
            <a:ext cx="8439305" cy="31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</a:pPr>
            <a:r>
              <a:rPr lang="en-US" sz="1829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./DOCKER.SH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1500" y="1447800"/>
            <a:ext cx="8572500" cy="103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7"/>
              </a:lnSpc>
            </a:pPr>
            <a:r>
              <a:rPr lang="en-US" sz="817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DOCKER↘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71500" y="3143250"/>
            <a:ext cx="4572000" cy="1619250"/>
            <a:chOff x="0" y="0"/>
            <a:chExt cx="6096000" cy="2159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96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EBE9DF"/>
            </a:solidFill>
            <a:ln w="19050" cap="sq">
              <a:solidFill>
                <a:srgbClr val="15130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096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58000" y="3143250"/>
            <a:ext cx="4572000" cy="1619250"/>
            <a:chOff x="0" y="0"/>
            <a:chExt cx="6096000" cy="2159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96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EBE9DF"/>
            </a:solidFill>
            <a:ln w="19050" cap="sq">
              <a:solidFill>
                <a:srgbClr val="15130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096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144500" y="3143250"/>
            <a:ext cx="4572000" cy="1619250"/>
            <a:chOff x="0" y="0"/>
            <a:chExt cx="6096000" cy="2159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96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D4581B"/>
            </a:solidFill>
            <a:ln w="19050" cap="sq">
              <a:solidFill>
                <a:srgbClr val="15130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096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29250" y="3810000"/>
            <a:ext cx="1143000" cy="285750"/>
            <a:chOff x="0" y="0"/>
            <a:chExt cx="1524000" cy="381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24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524000">
                  <a:moveTo>
                    <a:pt x="0" y="139700"/>
                  </a:moveTo>
                  <a:lnTo>
                    <a:pt x="1219200" y="139700"/>
                  </a:lnTo>
                  <a:lnTo>
                    <a:pt x="1219200" y="0"/>
                  </a:lnTo>
                  <a:lnTo>
                    <a:pt x="1524000" y="190500"/>
                  </a:lnTo>
                  <a:lnTo>
                    <a:pt x="1219200" y="381000"/>
                  </a:lnTo>
                  <a:lnTo>
                    <a:pt x="1219200" y="241300"/>
                  </a:lnTo>
                  <a:lnTo>
                    <a:pt x="0" y="241300"/>
                  </a:lnTo>
                  <a:close/>
                </a:path>
              </a:pathLst>
            </a:custGeom>
            <a:solidFill>
              <a:srgbClr val="15130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5240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715750" y="3810000"/>
            <a:ext cx="1143000" cy="285750"/>
            <a:chOff x="0" y="0"/>
            <a:chExt cx="1524000" cy="381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24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524000">
                  <a:moveTo>
                    <a:pt x="0" y="139700"/>
                  </a:moveTo>
                  <a:lnTo>
                    <a:pt x="1219200" y="139700"/>
                  </a:lnTo>
                  <a:lnTo>
                    <a:pt x="1219200" y="0"/>
                  </a:lnTo>
                  <a:lnTo>
                    <a:pt x="1524000" y="190500"/>
                  </a:lnTo>
                  <a:lnTo>
                    <a:pt x="1219200" y="381000"/>
                  </a:lnTo>
                  <a:lnTo>
                    <a:pt x="1219200" y="241300"/>
                  </a:lnTo>
                  <a:lnTo>
                    <a:pt x="0" y="241300"/>
                  </a:lnTo>
                  <a:close/>
                </a:path>
              </a:pathLst>
            </a:custGeom>
            <a:solidFill>
              <a:srgbClr val="15130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5240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809625" y="3305175"/>
            <a:ext cx="4095750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01 · DEPS</a:t>
            </a:r>
          </a:p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npm ci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096125" y="3305175"/>
            <a:ext cx="4095750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02 · BUILDER</a:t>
            </a:r>
          </a:p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next build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382625" y="3305175"/>
            <a:ext cx="4095750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EBE9DF"/>
                </a:solidFill>
                <a:latin typeface="Arimo"/>
                <a:ea typeface="Arimo"/>
                <a:cs typeface="Arimo"/>
                <a:sym typeface="Arimo"/>
              </a:rPr>
              <a:t>03 · RUNNER</a:t>
            </a:r>
          </a:p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EBE9DF"/>
                </a:solidFill>
                <a:latin typeface="Arimo"/>
                <a:ea typeface="Arimo"/>
                <a:cs typeface="Arimo"/>
                <a:sym typeface="Arimo"/>
              </a:rPr>
              <a:t>node server.js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71500" y="5343525"/>
            <a:ext cx="8191500" cy="198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5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Secrets</a:t>
            </a:r>
          </a:p>
          <a:p>
            <a:pPr algn="l" marL="0" indent="0" lvl="0">
              <a:lnSpc>
                <a:spcPts val="3915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— Variables injectées au build</a:t>
            </a:r>
          </a:p>
          <a:p>
            <a:pPr algn="l" marL="0" indent="0" lvl="0">
              <a:lnSpc>
                <a:spcPts val="3915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— Secret BuildKit</a:t>
            </a:r>
          </a:p>
          <a:p>
            <a:pPr algn="l" marL="0" indent="0" lvl="0">
              <a:lnSpc>
                <a:spcPts val="3915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— Aucun .env dans l'image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525000" y="5343525"/>
            <a:ext cx="8191500" cy="198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5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Exécution</a:t>
            </a:r>
          </a:p>
          <a:p>
            <a:pPr algn="l" marL="0" indent="0" lvl="0">
              <a:lnSpc>
                <a:spcPts val="3915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— node:22-alpine · 245 Mo</a:t>
            </a:r>
          </a:p>
          <a:p>
            <a:pPr algn="l" marL="0" indent="0" lvl="0">
              <a:lnSpc>
                <a:spcPts val="3915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— Non-root · healthcheck</a:t>
            </a:r>
          </a:p>
          <a:p>
            <a:pPr algn="l" marL="0" indent="0" lvl="0">
              <a:lnSpc>
                <a:spcPts val="3915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— ./docker.sh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9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87100" y="8928101"/>
            <a:ext cx="6658706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</a:pPr>
            <a:r>
              <a:rPr lang="en-US" sz="19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DOCKER SCOUT — SCAN &amp; CORRECTIONS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48130" y="387482"/>
            <a:ext cx="8468370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95"/>
              </a:lnSpc>
            </a:pPr>
            <a:r>
              <a:rPr lang="en-US" sz="19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2026</a:t>
            </a:r>
          </a:p>
        </p:txBody>
      </p:sp>
      <p:sp>
        <p:nvSpPr>
          <p:cNvPr name="AutoShape 4" id="4"/>
          <p:cNvSpPr/>
          <p:nvPr/>
        </p:nvSpPr>
        <p:spPr>
          <a:xfrm>
            <a:off x="11087100" y="8766918"/>
            <a:ext cx="922852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0" y="893203"/>
            <a:ext cx="182880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9263998" y="7777418"/>
            <a:ext cx="8001109" cy="972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47"/>
              </a:lnSpc>
            </a:pPr>
            <a:r>
              <a:rPr lang="en-US" sz="8194" spc="-56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SCOUT↘</a:t>
            </a:r>
          </a:p>
        </p:txBody>
      </p:sp>
      <p:sp>
        <p:nvSpPr>
          <p:cNvPr name="AutoShape 7" id="7"/>
          <p:cNvSpPr/>
          <p:nvPr/>
        </p:nvSpPr>
        <p:spPr>
          <a:xfrm>
            <a:off x="9263998" y="9388184"/>
            <a:ext cx="902400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609445" y="9501650"/>
            <a:ext cx="8439305" cy="31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  <a:spcBef>
                <a:spcPct val="0"/>
              </a:spcBef>
            </a:pPr>
            <a:r>
              <a:rPr lang="en-US" sz="1829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./DOCKER.SH SCAN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1500" y="387893"/>
            <a:ext cx="8477250" cy="31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</a:pPr>
            <a:r>
              <a:rPr lang="en-US" sz="1829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GABARIT — SOUTENANCE M2 EEMI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71500" y="3350237"/>
            <a:ext cx="2698750" cy="3240705"/>
          </a:xfrm>
          <a:custGeom>
            <a:avLst/>
            <a:gdLst/>
            <a:ahLst/>
            <a:cxnLst/>
            <a:rect r="r" b="b" t="t" l="l"/>
            <a:pathLst>
              <a:path h="3240705" w="2698750">
                <a:moveTo>
                  <a:pt x="0" y="0"/>
                </a:moveTo>
                <a:lnTo>
                  <a:pt x="2698750" y="0"/>
                </a:lnTo>
                <a:lnTo>
                  <a:pt x="2698750" y="3240705"/>
                </a:lnTo>
                <a:lnTo>
                  <a:pt x="0" y="324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" r="0" b="-166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482975" y="3350237"/>
            <a:ext cx="5565775" cy="5416682"/>
          </a:xfrm>
          <a:custGeom>
            <a:avLst/>
            <a:gdLst/>
            <a:ahLst/>
            <a:cxnLst/>
            <a:rect r="r" b="b" t="t" l="l"/>
            <a:pathLst>
              <a:path h="5416682" w="5565775">
                <a:moveTo>
                  <a:pt x="0" y="0"/>
                </a:moveTo>
                <a:lnTo>
                  <a:pt x="5565775" y="0"/>
                </a:lnTo>
                <a:lnTo>
                  <a:pt x="5565775" y="5416681"/>
                </a:lnTo>
                <a:lnTo>
                  <a:pt x="0" y="54166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41" r="0" b="-541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263998" y="2271268"/>
            <a:ext cx="2674002" cy="4284361"/>
          </a:xfrm>
          <a:custGeom>
            <a:avLst/>
            <a:gdLst/>
            <a:ahLst/>
            <a:cxnLst/>
            <a:rect r="r" b="b" t="t" l="l"/>
            <a:pathLst>
              <a:path h="4284361" w="2674002">
                <a:moveTo>
                  <a:pt x="0" y="0"/>
                </a:moveTo>
                <a:lnTo>
                  <a:pt x="2674002" y="0"/>
                </a:lnTo>
                <a:lnTo>
                  <a:pt x="2674002" y="4284361"/>
                </a:lnTo>
                <a:lnTo>
                  <a:pt x="0" y="42843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31" r="0" b="-231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71500" y="1272995"/>
            <a:ext cx="8382000" cy="87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sz="255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next · sharp · zlib corrigés</a:t>
            </a:r>
          </a:p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sz="2550" strike="noStrike" u="none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npm et yarn retirés de l'image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2128500" y="3696058"/>
            <a:ext cx="2698750" cy="2859570"/>
          </a:xfrm>
          <a:custGeom>
            <a:avLst/>
            <a:gdLst/>
            <a:ahLst/>
            <a:cxnLst/>
            <a:rect r="r" b="b" t="t" l="l"/>
            <a:pathLst>
              <a:path h="2859570" w="2698750">
                <a:moveTo>
                  <a:pt x="0" y="0"/>
                </a:moveTo>
                <a:lnTo>
                  <a:pt x="2698750" y="0"/>
                </a:lnTo>
                <a:lnTo>
                  <a:pt x="2698750" y="2859571"/>
                </a:lnTo>
                <a:lnTo>
                  <a:pt x="0" y="2859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29" t="0" r="-529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017750" y="5281488"/>
            <a:ext cx="2722250" cy="2416595"/>
          </a:xfrm>
          <a:custGeom>
            <a:avLst/>
            <a:gdLst/>
            <a:ahLst/>
            <a:cxnLst/>
            <a:rect r="r" b="b" t="t" l="l"/>
            <a:pathLst>
              <a:path h="2416595" w="2722250">
                <a:moveTo>
                  <a:pt x="0" y="0"/>
                </a:moveTo>
                <a:lnTo>
                  <a:pt x="2722250" y="0"/>
                </a:lnTo>
                <a:lnTo>
                  <a:pt x="2722250" y="2416595"/>
                </a:lnTo>
                <a:lnTo>
                  <a:pt x="0" y="24165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80" r="0" b="-48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017750" y="2636293"/>
            <a:ext cx="2722250" cy="2492795"/>
          </a:xfrm>
          <a:custGeom>
            <a:avLst/>
            <a:gdLst/>
            <a:ahLst/>
            <a:cxnLst/>
            <a:rect r="r" b="b" t="t" l="l"/>
            <a:pathLst>
              <a:path h="2492795" w="2722250">
                <a:moveTo>
                  <a:pt x="0" y="0"/>
                </a:moveTo>
                <a:lnTo>
                  <a:pt x="2722250" y="0"/>
                </a:lnTo>
                <a:lnTo>
                  <a:pt x="2722250" y="2492795"/>
                </a:lnTo>
                <a:lnTo>
                  <a:pt x="0" y="24927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507" r="0" b="-507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71500" y="6754004"/>
            <a:ext cx="2698750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sz="1925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AVANT 1C · 2H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82975" y="8919318"/>
            <a:ext cx="5565775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sz="1925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APRÈS 0C · 0H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48130" y="1822287"/>
            <a:ext cx="2689870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sz="1925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SCORE C → B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28500" y="6754004"/>
            <a:ext cx="2698750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sz="1925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3 CORRECTIFS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017750" y="2159216"/>
            <a:ext cx="2698750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sz="1925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NON-ROOT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9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64085" y="415646"/>
            <a:ext cx="5573915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95"/>
              </a:lnSpc>
              <a:spcBef>
                <a:spcPct val="0"/>
              </a:spcBef>
            </a:pPr>
            <a:r>
              <a:rPr lang="en-US" sz="1925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USAGE DE L'IA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1500" y="1814848"/>
            <a:ext cx="8001109" cy="972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47"/>
              </a:lnSpc>
              <a:spcBef>
                <a:spcPct val="0"/>
              </a:spcBef>
            </a:pPr>
            <a:r>
              <a:rPr lang="en-US" sz="8194" spc="-565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USAGE DE L'IA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-324633" y="9388184"/>
            <a:ext cx="1861263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587500" y="3751534"/>
            <a:ext cx="1689152" cy="2200121"/>
          </a:xfrm>
          <a:custGeom>
            <a:avLst/>
            <a:gdLst/>
            <a:ahLst/>
            <a:cxnLst/>
            <a:rect r="r" b="b" t="t" l="l"/>
            <a:pathLst>
              <a:path h="2200121" w="1689152">
                <a:moveTo>
                  <a:pt x="0" y="0"/>
                </a:moveTo>
                <a:lnTo>
                  <a:pt x="1689152" y="0"/>
                </a:lnTo>
                <a:lnTo>
                  <a:pt x="1689152" y="2200121"/>
                </a:lnTo>
                <a:lnTo>
                  <a:pt x="0" y="2200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6" t="0" r="-146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87500" y="6831796"/>
            <a:ext cx="1689152" cy="2200121"/>
          </a:xfrm>
          <a:custGeom>
            <a:avLst/>
            <a:gdLst/>
            <a:ahLst/>
            <a:cxnLst/>
            <a:rect r="r" b="b" t="t" l="l"/>
            <a:pathLst>
              <a:path h="2200121" w="1689152">
                <a:moveTo>
                  <a:pt x="0" y="0"/>
                </a:moveTo>
                <a:lnTo>
                  <a:pt x="1689152" y="0"/>
                </a:lnTo>
                <a:lnTo>
                  <a:pt x="1689152" y="2200122"/>
                </a:lnTo>
                <a:lnTo>
                  <a:pt x="0" y="22001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6" t="0" r="-146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86250" y="4003394"/>
            <a:ext cx="4333875" cy="13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CONFIÉ</a:t>
            </a:r>
          </a:p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— SQUELETTE</a:t>
            </a:r>
          </a:p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— COMPOSANTS, SQL</a:t>
            </a:r>
          </a:p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— DOCKERFILE, DOCS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86250" y="7010400"/>
            <a:ext cx="4333875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CORRIGÉ</a:t>
            </a:r>
          </a:p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— CRÉNEAUX OCCUPÉS (RLS)</a:t>
            </a:r>
          </a:p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— ENV_FILE INUTILE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06000" y="3990975"/>
            <a:ext cx="7620000" cy="331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J’AI </a:t>
            </a:r>
            <a:r>
              <a:rPr lang="en-US" sz="2700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VÉRIFIÉ :</a:t>
            </a:r>
          </a:p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— BUILD · LINT</a:t>
            </a:r>
          </a:p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— PARCOURS WEB + MOBILE</a:t>
            </a:r>
          </a:p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— SCAN SCOUT RÉEL</a:t>
            </a:r>
          </a:p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— TÉLÉPHONE RÉEL</a:t>
            </a:r>
          </a:p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908124" y="387482"/>
            <a:ext cx="3808376" cy="31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95"/>
              </a:lnSpc>
              <a:spcBef>
                <a:spcPct val="0"/>
              </a:spcBef>
            </a:pPr>
            <a:r>
              <a:rPr lang="en-US" sz="1925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15 / 16</a:t>
            </a:r>
          </a:p>
        </p:txBody>
      </p:sp>
      <p:sp>
        <p:nvSpPr>
          <p:cNvPr name="AutoShape 11" id="11"/>
          <p:cNvSpPr/>
          <p:nvPr/>
        </p:nvSpPr>
        <p:spPr>
          <a:xfrm>
            <a:off x="0" y="893203"/>
            <a:ext cx="182880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0" y="3284809"/>
            <a:ext cx="182880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-428625" y="6418380"/>
            <a:ext cx="958919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9160567" y="3284809"/>
            <a:ext cx="0" cy="6103375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571500" y="387893"/>
            <a:ext cx="4707794" cy="31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</a:pPr>
            <a:r>
              <a:rPr lang="en-US" sz="1829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GABARIT — SOUTENANCE M2 EEMI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9445" y="9501650"/>
            <a:ext cx="8439305" cy="31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</a:pPr>
            <a:r>
              <a:rPr lang="en-US" sz="1829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RESPONSABILITÉ NON DÉLÉGABLE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75115"/>
            <a:ext cx="9144000" cy="10362115"/>
          </a:xfrm>
          <a:custGeom>
            <a:avLst/>
            <a:gdLst/>
            <a:ahLst/>
            <a:cxnLst/>
            <a:rect r="r" b="b" t="t" l="l"/>
            <a:pathLst>
              <a:path h="10362115" w="9144000">
                <a:moveTo>
                  <a:pt x="0" y="0"/>
                </a:moveTo>
                <a:lnTo>
                  <a:pt x="9144000" y="0"/>
                </a:lnTo>
                <a:lnTo>
                  <a:pt x="9144000" y="10362115"/>
                </a:lnTo>
                <a:lnTo>
                  <a:pt x="0" y="103621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3" t="0" r="-73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531233" y="9388184"/>
            <a:ext cx="8559491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531222" y="6231457"/>
            <a:ext cx="8001109" cy="28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8"/>
              </a:lnSpc>
            </a:pPr>
            <a:r>
              <a:rPr lang="en-US" sz="1829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DÉMONSTRATION LIVE · QUESTIONS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1222" y="8876185"/>
            <a:ext cx="8001121" cy="28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8"/>
              </a:lnSpc>
            </a:pPr>
            <a:r>
              <a:rPr lang="en-US" sz="1829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DÉMO WEB — DÉMO MOBILE — DÉMO DOCKER — LIVE CODING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1234" y="4400612"/>
            <a:ext cx="8001109" cy="1858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47"/>
              </a:lnSpc>
            </a:pPr>
            <a:r>
              <a:rPr lang="en-US" sz="8194" spc="-56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LIVE CODING</a:t>
            </a:r>
            <a:r>
              <a:rPr lang="en-US" sz="8194" spc="-56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&amp;</a:t>
            </a:r>
          </a:p>
          <a:p>
            <a:pPr algn="l" marL="0" indent="0" lvl="0">
              <a:lnSpc>
                <a:spcPts val="7047"/>
              </a:lnSpc>
            </a:pPr>
            <a:r>
              <a:rPr lang="en-US" sz="8194" spc="-56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QUESTIONS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1222" y="9502484"/>
            <a:ext cx="8001109" cy="31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  <a:spcBef>
                <a:spcPct val="0"/>
              </a:spcBef>
            </a:pPr>
            <a:r>
              <a:rPr lang="en-US" sz="1829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16 /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1222" y="563245"/>
            <a:ext cx="8001121" cy="559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13"/>
              </a:lnSpc>
            </a:pPr>
            <a:r>
              <a:rPr lang="en-US" sz="1829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GABARIT — RÉSEAU D'ATELIERS PARTAGÉS</a:t>
            </a:r>
          </a:p>
          <a:p>
            <a:pPr algn="just" marL="0" indent="0" lvl="0">
              <a:lnSpc>
                <a:spcPts val="2213"/>
              </a:lnSpc>
            </a:pPr>
            <a:r>
              <a:rPr lang="en-US" sz="1829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SOUTENANCE M2 EEMI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DAHXUDxgAOM</dc:identifier>
  <dcterms:modified xsi:type="dcterms:W3CDTF">2011-08-01T06:04:30Z</dcterms:modified>
  <cp:revision>1</cp:revision>
  <dc:title>Soutenance Gabarit</dc:title>
</cp:coreProperties>
</file>